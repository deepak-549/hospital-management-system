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70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59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567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468313" y="1196975"/>
            <a:ext cx="8207375" cy="1082675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469900" y="2422525"/>
            <a:ext cx="8212138" cy="1752600"/>
          </a:xfrm>
        </p:spPr>
        <p:txBody>
          <a:bodyPr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174750"/>
            <a:ext cx="40386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74750"/>
            <a:ext cx="40386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90500"/>
            <a:ext cx="2057400" cy="59372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90500"/>
            <a:ext cx="6019800" cy="59372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9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0"/>
            <a:ext cx="91567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457200" y="190500"/>
            <a:ext cx="82296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457200" y="1174750"/>
            <a:ext cx="82296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Picture 4" descr="Hospital-Management-Software"/>
          <p:cNvPicPr>
            <a:picLocks noChangeAspect="1"/>
          </p:cNvPicPr>
          <p:nvPr/>
        </p:nvPicPr>
        <p:blipFill>
          <a:blip r:embed="rId1">
            <a:alphaModFix amt="20000"/>
          </a:blip>
          <a:stretch>
            <a:fillRect/>
          </a:stretch>
        </p:blipFill>
        <p:spPr>
          <a:xfrm>
            <a:off x="-2988945" y="0"/>
            <a:ext cx="12132945" cy="6857365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3045" y="788035"/>
            <a:ext cx="9240520" cy="5814695"/>
          </a:xfrm>
        </p:spPr>
        <p:txBody>
          <a:bodyPr/>
          <a:lstStyle/>
          <a:p>
            <a:pPr marL="0" indent="0" algn="ctr">
              <a:buNone/>
            </a:pPr>
            <a:r>
              <a:rPr sz="4400" b="1">
                <a:solidFill>
                  <a:schemeClr val="tx1"/>
                </a:solidFill>
              </a:rPr>
              <a:t>Project Presentatio</a:t>
            </a:r>
            <a:r>
              <a:rPr lang="en-US" sz="4400" b="1">
                <a:solidFill>
                  <a:schemeClr val="tx1"/>
                </a:solidFill>
              </a:rPr>
              <a:t>n</a:t>
            </a:r>
            <a:endParaRPr lang="en-US" sz="4400" b="1">
              <a:solidFill>
                <a:schemeClr val="tx1"/>
              </a:solidFill>
            </a:endParaRPr>
          </a:p>
          <a:p>
            <a:pPr marL="0" indent="0" algn="ctr">
              <a:buNone/>
            </a:pPr>
            <a:endParaRPr lang="en-US" sz="4400" b="1">
              <a:solidFill>
                <a:schemeClr val="tx1"/>
              </a:solidFill>
            </a:endParaRPr>
          </a:p>
          <a:p>
            <a:pPr marL="0" indent="0" algn="ctr">
              <a:buNone/>
            </a:pPr>
            <a:r>
              <a:rPr sz="48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Hospital Management Syste</a:t>
            </a:r>
            <a:r>
              <a:rPr lang="en-US" sz="48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m</a:t>
            </a:r>
            <a:endParaRPr lang="en-US" sz="4800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0" indent="0" algn="ctr">
              <a:buNone/>
            </a:pPr>
            <a:endParaRPr lang="en-US" sz="4800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0" indent="0" algn="l">
              <a:buNone/>
            </a:pPr>
            <a:r>
              <a:rPr lang="en-US" sz="28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Team members:</a:t>
            </a:r>
            <a:endParaRPr lang="en-US" sz="2800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0" indent="0" algn="l">
              <a:buNone/>
            </a:pPr>
            <a:r>
              <a:rPr lang="en-US" sz="28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1. Shubham Bhosale</a:t>
            </a:r>
            <a:endParaRPr lang="en-US" sz="2800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0" indent="0" algn="l">
              <a:buNone/>
            </a:pPr>
            <a:r>
              <a:rPr lang="en-US" sz="28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2. Deepak Pawar</a:t>
            </a:r>
            <a:endParaRPr lang="en-US" sz="2800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0" indent="0" algn="l">
              <a:buNone/>
            </a:pPr>
            <a:r>
              <a:rPr lang="en-US" sz="28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3. Nikhil Mudhale </a:t>
            </a:r>
            <a:endParaRPr lang="en-US" sz="2800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0" indent="0" algn="l">
              <a:buNone/>
            </a:pPr>
            <a:r>
              <a:rPr lang="en-US" sz="28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4. Suraj</a:t>
            </a:r>
            <a:endParaRPr sz="2800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0" indent="0" algn="ctr">
              <a:buNone/>
            </a:pPr>
            <a:endParaRPr sz="4800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0" indent="0" algn="ctr">
              <a:buNone/>
            </a:pPr>
            <a:endParaRPr sz="4800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l">
              <a:buNone/>
            </a:pPr>
          </a:p>
          <a:p>
            <a:pPr marL="0" indent="0" algn="l">
              <a:buNone/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582613"/>
          </a:xfrm>
        </p:spPr>
        <p:txBody>
          <a:bodyPr/>
          <a:lstStyle/>
          <a:p>
            <a:pPr algn="ctr"/>
            <a:r>
              <a:rPr sz="4800" b="1">
                <a:latin typeface="Times New Roman" panose="02020603050405020304" charset="0"/>
                <a:cs typeface="Times New Roman" panose="02020603050405020304" charset="0"/>
              </a:rPr>
              <a:t>Introduction</a:t>
            </a:r>
            <a:endParaRPr sz="48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Hospital Management System is a </a:t>
            </a:r>
            <a:r>
              <a:rPr>
                <a:latin typeface="Times New Roman" panose="02020603050405020304" charset="0"/>
                <a:cs typeface="Times New Roman" panose="02020603050405020304" charset="0"/>
                <a:sym typeface="+mn-ea"/>
              </a:rPr>
              <a:t>software application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 that automates hospital operations such as patient management, appointments, billing, and bed allocation.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It ensures efficient data handling, secure access, and improved patient care.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5" name="Picture 4" descr="Hospital-Management-Software"/>
          <p:cNvPicPr>
            <a:picLocks noChangeAspect="1"/>
          </p:cNvPicPr>
          <p:nvPr/>
        </p:nvPicPr>
        <p:blipFill>
          <a:blip r:embed="rId1">
            <a:alphaModFix amt="20000"/>
          </a:blip>
          <a:stretch>
            <a:fillRect/>
          </a:stretch>
        </p:blipFill>
        <p:spPr>
          <a:xfrm>
            <a:off x="-2988945" y="0"/>
            <a:ext cx="12132945" cy="685736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8930"/>
            <a:ext cx="8229600" cy="582613"/>
          </a:xfrm>
        </p:spPr>
        <p:txBody>
          <a:bodyPr/>
          <a:p>
            <a:pPr algn="ctr"/>
            <a:r>
              <a:rPr lang="en-US" sz="4800" b="1">
                <a:latin typeface="Times New Roman" panose="02020603050405020304" charset="0"/>
                <a:cs typeface="Times New Roman" panose="02020603050405020304" charset="0"/>
              </a:rPr>
              <a:t>Problem Statement</a:t>
            </a:r>
            <a:endParaRPr lang="en-US" sz="48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1430"/>
            <a:ext cx="8229600" cy="4953000"/>
          </a:xfrm>
        </p:spPr>
        <p:txBody>
          <a:bodyPr/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Hospitals face challenges in handling patient data, appointments, prescriptions, room allocation, and billing using manual systems. To overcome these issues, a computerized Hospital Management System is required to efficiently manage hospital operations and improve service quality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5" name="Picture 4" descr="Hospital-Management-Software"/>
          <p:cNvPicPr>
            <a:picLocks noChangeAspect="1"/>
          </p:cNvPicPr>
          <p:nvPr/>
        </p:nvPicPr>
        <p:blipFill>
          <a:blip r:embed="rId1">
            <a:alphaModFix amt="20000"/>
          </a:blip>
          <a:stretch>
            <a:fillRect/>
          </a:stretch>
        </p:blipFill>
        <p:spPr>
          <a:xfrm>
            <a:off x="-2988945" y="0"/>
            <a:ext cx="12132945" cy="685736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7340"/>
            <a:ext cx="8229600" cy="582613"/>
          </a:xfrm>
        </p:spPr>
        <p:txBody>
          <a:bodyPr/>
          <a:lstStyle/>
          <a:p>
            <a:pPr algn="ctr"/>
            <a:r>
              <a:rPr sz="4800" b="1">
                <a:latin typeface="Times New Roman" panose="02020603050405020304" charset="0"/>
                <a:cs typeface="Times New Roman" panose="02020603050405020304" charset="0"/>
              </a:rPr>
              <a:t>Objectives</a:t>
            </a:r>
            <a:endParaRPr sz="48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latin typeface="Times New Roman" panose="02020603050405020304" charset="0"/>
                <a:cs typeface="Times New Roman" panose="02020603050405020304" charset="0"/>
              </a:rPr>
              <a:t>Manage </a:t>
            </a:r>
            <a:r>
              <a:rPr sz="3600">
                <a:latin typeface="Times New Roman" panose="02020603050405020304" charset="0"/>
                <a:cs typeface="Times New Roman" panose="02020603050405020304" charset="0"/>
              </a:rPr>
              <a:t>patient records</a:t>
            </a:r>
            <a:endParaRPr sz="36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sz="3600">
                <a:latin typeface="Times New Roman" panose="02020603050405020304" charset="0"/>
                <a:cs typeface="Times New Roman" panose="02020603050405020304" charset="0"/>
              </a:rPr>
              <a:t>Manage doctors</a:t>
            </a:r>
            <a:endParaRPr sz="36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sz="3600">
                <a:latin typeface="Times New Roman" panose="02020603050405020304" charset="0"/>
                <a:cs typeface="Times New Roman" panose="02020603050405020304" charset="0"/>
              </a:rPr>
              <a:t>Handle appointments</a:t>
            </a:r>
            <a:endParaRPr sz="36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sz="3600">
                <a:latin typeface="Times New Roman" panose="02020603050405020304" charset="0"/>
                <a:cs typeface="Times New Roman" panose="02020603050405020304" charset="0"/>
              </a:rPr>
              <a:t>Generate bills</a:t>
            </a:r>
            <a:endParaRPr sz="36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sz="3600">
                <a:latin typeface="Times New Roman" panose="02020603050405020304" charset="0"/>
                <a:cs typeface="Times New Roman" panose="02020603050405020304" charset="0"/>
              </a:rPr>
              <a:t>Manage medicines and Prescription</a:t>
            </a:r>
            <a:endParaRPr lang="en-US" sz="36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sz="3600">
                <a:latin typeface="Times New Roman" panose="02020603050405020304" charset="0"/>
                <a:cs typeface="Times New Roman" panose="02020603050405020304" charset="0"/>
              </a:rPr>
              <a:t>Manage room and bed availability and Assignment</a:t>
            </a:r>
            <a:endParaRPr lang="en-US" sz="36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4" name="Picture 3" descr="Hospital-Management-Software"/>
          <p:cNvPicPr>
            <a:picLocks noChangeAspect="1"/>
          </p:cNvPicPr>
          <p:nvPr/>
        </p:nvPicPr>
        <p:blipFill>
          <a:blip r:embed="rId1">
            <a:alphaModFix amt="20000"/>
          </a:blip>
          <a:stretch>
            <a:fillRect/>
          </a:stretch>
        </p:blipFill>
        <p:spPr>
          <a:xfrm>
            <a:off x="-2988945" y="0"/>
            <a:ext cx="12132945" cy="685736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2270"/>
            <a:ext cx="8229600" cy="582613"/>
          </a:xfrm>
        </p:spPr>
        <p:txBody>
          <a:bodyPr/>
          <a:lstStyle/>
          <a:p>
            <a:pPr algn="ctr"/>
            <a:r>
              <a:rPr sz="5400" b="1">
                <a:latin typeface="Times New Roman" panose="02020603050405020304" charset="0"/>
                <a:cs typeface="Times New Roman" panose="02020603050405020304" charset="0"/>
              </a:rPr>
              <a:t>Modules</a:t>
            </a:r>
            <a:endParaRPr sz="54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3600">
                <a:latin typeface="Times New Roman" panose="02020603050405020304" charset="0"/>
                <a:cs typeface="Times New Roman" panose="02020603050405020304" charset="0"/>
              </a:rPr>
              <a:t>Admin Module</a:t>
            </a:r>
            <a:endParaRPr sz="36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sz="3600">
                <a:latin typeface="Times New Roman" panose="02020603050405020304" charset="0"/>
                <a:cs typeface="Times New Roman" panose="02020603050405020304" charset="0"/>
              </a:rPr>
              <a:t>Doctor Module</a:t>
            </a:r>
            <a:endParaRPr sz="36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sz="3600">
                <a:latin typeface="Times New Roman" panose="02020603050405020304" charset="0"/>
                <a:cs typeface="Times New Roman" panose="02020603050405020304" charset="0"/>
              </a:rPr>
              <a:t>Patient Module</a:t>
            </a:r>
            <a:endParaRPr sz="36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sz="3600">
                <a:latin typeface="Times New Roman" panose="02020603050405020304" charset="0"/>
                <a:cs typeface="Times New Roman" panose="02020603050405020304" charset="0"/>
              </a:rPr>
              <a:t>Room &amp; Bed Module</a:t>
            </a:r>
            <a:endParaRPr sz="36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sz="3600">
                <a:latin typeface="Times New Roman" panose="02020603050405020304" charset="0"/>
                <a:cs typeface="Times New Roman" panose="02020603050405020304" charset="0"/>
              </a:rPr>
              <a:t>Prescription &amp; Medicine Module</a:t>
            </a:r>
            <a:endParaRPr sz="36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sz="3600">
                <a:latin typeface="Times New Roman" panose="02020603050405020304" charset="0"/>
                <a:cs typeface="Times New Roman" panose="02020603050405020304" charset="0"/>
              </a:rPr>
              <a:t>Billing Module</a:t>
            </a:r>
            <a:endParaRPr sz="36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5" name="Picture 4" descr="Hospital-Management-Software"/>
          <p:cNvPicPr>
            <a:picLocks noChangeAspect="1"/>
          </p:cNvPicPr>
          <p:nvPr/>
        </p:nvPicPr>
        <p:blipFill>
          <a:blip r:embed="rId1">
            <a:alphaModFix amt="20000"/>
          </a:blip>
          <a:stretch>
            <a:fillRect/>
          </a:stretch>
        </p:blipFill>
        <p:spPr>
          <a:xfrm>
            <a:off x="-2988945" y="0"/>
            <a:ext cx="12132945" cy="685736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4800" b="1">
                <a:latin typeface="Times New Roman" panose="02020603050405020304" charset="0"/>
                <a:cs typeface="Times New Roman" panose="02020603050405020304" charset="0"/>
              </a:rPr>
              <a:t>Admin Module</a:t>
            </a:r>
            <a:endParaRPr sz="48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sz="3600">
                <a:latin typeface="Times New Roman" panose="02020603050405020304" charset="0"/>
                <a:cs typeface="Times New Roman" panose="02020603050405020304" charset="0"/>
              </a:rPr>
              <a:t>Admin login</a:t>
            </a:r>
            <a:endParaRPr sz="36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sz="3600">
                <a:latin typeface="Times New Roman" panose="02020603050405020304" charset="0"/>
                <a:cs typeface="Times New Roman" panose="02020603050405020304" charset="0"/>
              </a:rPr>
              <a:t>Add/View Doctors</a:t>
            </a:r>
            <a:endParaRPr sz="36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sz="3600">
                <a:latin typeface="Times New Roman" panose="02020603050405020304" charset="0"/>
                <a:cs typeface="Times New Roman" panose="02020603050405020304" charset="0"/>
              </a:rPr>
              <a:t>Add/View Patients</a:t>
            </a:r>
            <a:endParaRPr sz="36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sz="3600">
                <a:latin typeface="Times New Roman" panose="02020603050405020304" charset="0"/>
                <a:cs typeface="Times New Roman" panose="02020603050405020304" charset="0"/>
              </a:rPr>
              <a:t>Add Rooms &amp; Beds</a:t>
            </a:r>
            <a:endParaRPr sz="36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sz="3600">
                <a:latin typeface="Times New Roman" panose="02020603050405020304" charset="0"/>
                <a:cs typeface="Times New Roman" panose="02020603050405020304" charset="0"/>
              </a:rPr>
              <a:t>Assign Room &amp; Bed to Patient</a:t>
            </a:r>
            <a:endParaRPr sz="36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sz="3600">
                <a:latin typeface="Times New Roman" panose="02020603050405020304" charset="0"/>
                <a:cs typeface="Times New Roman" panose="02020603050405020304" charset="0"/>
              </a:rPr>
              <a:t>Add/Edit/Delete Medicines</a:t>
            </a:r>
            <a:endParaRPr sz="36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sz="3600">
                <a:latin typeface="Times New Roman" panose="02020603050405020304" charset="0"/>
                <a:cs typeface="Times New Roman" panose="02020603050405020304" charset="0"/>
              </a:rPr>
              <a:t>Generate Bills</a:t>
            </a:r>
            <a:endParaRPr sz="36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5" name="Picture 4" descr="Hospital-Management-Software"/>
          <p:cNvPicPr>
            <a:picLocks noChangeAspect="1"/>
          </p:cNvPicPr>
          <p:nvPr/>
        </p:nvPicPr>
        <p:blipFill>
          <a:blip r:embed="rId1">
            <a:alphaModFix amt="20000"/>
          </a:blip>
          <a:stretch>
            <a:fillRect/>
          </a:stretch>
        </p:blipFill>
        <p:spPr>
          <a:xfrm>
            <a:off x="-2988945" y="0"/>
            <a:ext cx="12132945" cy="685736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4800" b="1">
                <a:latin typeface="Times New Roman" panose="02020603050405020304" charset="0"/>
                <a:cs typeface="Times New Roman" panose="02020603050405020304" charset="0"/>
              </a:rPr>
              <a:t>Doctor Module</a:t>
            </a:r>
            <a:endParaRPr sz="48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4400">
                <a:latin typeface="Times New Roman" panose="02020603050405020304" charset="0"/>
                <a:cs typeface="Times New Roman" panose="02020603050405020304" charset="0"/>
              </a:rPr>
              <a:t>Doctor login</a:t>
            </a:r>
            <a:endParaRPr sz="44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sz="4400">
                <a:latin typeface="Times New Roman" panose="02020603050405020304" charset="0"/>
                <a:cs typeface="Times New Roman" panose="02020603050405020304" charset="0"/>
              </a:rPr>
              <a:t>View Appointments</a:t>
            </a:r>
            <a:endParaRPr sz="44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sz="4400">
                <a:latin typeface="Times New Roman" panose="02020603050405020304" charset="0"/>
                <a:cs typeface="Times New Roman" panose="02020603050405020304" charset="0"/>
              </a:rPr>
              <a:t>Add Prescription</a:t>
            </a:r>
            <a:endParaRPr sz="44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sz="4400">
                <a:latin typeface="Times New Roman" panose="02020603050405020304" charset="0"/>
                <a:cs typeface="Times New Roman" panose="02020603050405020304" charset="0"/>
              </a:rPr>
              <a:t>View Patient Details</a:t>
            </a:r>
            <a:endParaRPr sz="44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5" name="Picture 4" descr="Hospital-Management-Software"/>
          <p:cNvPicPr>
            <a:picLocks noChangeAspect="1"/>
          </p:cNvPicPr>
          <p:nvPr/>
        </p:nvPicPr>
        <p:blipFill>
          <a:blip r:embed="rId1">
            <a:alphaModFix amt="20000"/>
          </a:blip>
          <a:stretch>
            <a:fillRect/>
          </a:stretch>
        </p:blipFill>
        <p:spPr>
          <a:xfrm>
            <a:off x="-2988945" y="0"/>
            <a:ext cx="12132945" cy="685736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br>
              <a:rPr sz="4400" b="1">
                <a:latin typeface="Times New Roman" panose="02020603050405020304" charset="0"/>
                <a:cs typeface="Times New Roman" panose="02020603050405020304" charset="0"/>
              </a:rPr>
            </a:br>
            <a:r>
              <a:rPr sz="4400" b="1">
                <a:latin typeface="Times New Roman" panose="02020603050405020304" charset="0"/>
                <a:cs typeface="Times New Roman" panose="02020603050405020304" charset="0"/>
              </a:rPr>
              <a:t>Patient Module</a:t>
            </a:r>
            <a:endParaRPr sz="44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sz="4000">
                <a:latin typeface="Times New Roman" panose="02020603050405020304" charset="0"/>
                <a:cs typeface="Times New Roman" panose="02020603050405020304" charset="0"/>
              </a:rPr>
              <a:t>Patient registration</a:t>
            </a:r>
            <a:r>
              <a:rPr lang="en-US" sz="4000">
                <a:latin typeface="Times New Roman" panose="02020603050405020304" charset="0"/>
                <a:cs typeface="Times New Roman" panose="02020603050405020304" charset="0"/>
              </a:rPr>
              <a:t>(Add, Delete, Edit)</a:t>
            </a:r>
            <a:endParaRPr lang="en-US" sz="4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sz="4000">
                <a:latin typeface="Times New Roman" panose="02020603050405020304" charset="0"/>
                <a:cs typeface="Times New Roman" panose="02020603050405020304" charset="0"/>
              </a:rPr>
              <a:t>Describe diseases</a:t>
            </a:r>
            <a:endParaRPr lang="en-US" sz="4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sz="4000">
                <a:latin typeface="Times New Roman" panose="02020603050405020304" charset="0"/>
                <a:cs typeface="Times New Roman" panose="02020603050405020304" charset="0"/>
              </a:rPr>
              <a:t>Assign doctors</a:t>
            </a:r>
            <a:endParaRPr sz="4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sz="4000">
                <a:latin typeface="Times New Roman" panose="02020603050405020304" charset="0"/>
                <a:cs typeface="Times New Roman" panose="02020603050405020304" charset="0"/>
              </a:rPr>
              <a:t>View patient information</a:t>
            </a:r>
            <a:endParaRPr sz="40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5" name="Picture 4" descr="Hospital-Management-Software"/>
          <p:cNvPicPr>
            <a:picLocks noChangeAspect="1"/>
          </p:cNvPicPr>
          <p:nvPr/>
        </p:nvPicPr>
        <p:blipFill>
          <a:blip r:embed="rId1">
            <a:alphaModFix amt="20000"/>
          </a:blip>
          <a:stretch>
            <a:fillRect/>
          </a:stretch>
        </p:blipFill>
        <p:spPr>
          <a:xfrm>
            <a:off x="-2988945" y="0"/>
            <a:ext cx="12132945" cy="685736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97180"/>
            <a:ext cx="8229600" cy="582613"/>
          </a:xfrm>
        </p:spPr>
        <p:txBody>
          <a:bodyPr/>
          <a:lstStyle/>
          <a:p>
            <a:pPr algn="ctr"/>
            <a:r>
              <a:rPr sz="4800" b="1">
                <a:latin typeface="Times New Roman" panose="02020603050405020304" charset="0"/>
                <a:cs typeface="Times New Roman" panose="02020603050405020304" charset="0"/>
              </a:rPr>
              <a:t>Room &amp; Bed Module</a:t>
            </a:r>
            <a:endParaRPr sz="48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4000">
                <a:latin typeface="Times New Roman" panose="02020603050405020304" charset="0"/>
                <a:cs typeface="Times New Roman" panose="02020603050405020304" charset="0"/>
              </a:rPr>
              <a:t>Add rooms and beds</a:t>
            </a:r>
            <a:endParaRPr sz="4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sz="4000">
                <a:latin typeface="Times New Roman" panose="02020603050405020304" charset="0"/>
                <a:cs typeface="Times New Roman" panose="02020603050405020304" charset="0"/>
              </a:rPr>
              <a:t>Track availability</a:t>
            </a:r>
            <a:endParaRPr sz="4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sz="4000">
                <a:latin typeface="Times New Roman" panose="02020603050405020304" charset="0"/>
                <a:cs typeface="Times New Roman" panose="02020603050405020304" charset="0"/>
              </a:rPr>
              <a:t>Assign to patients</a:t>
            </a:r>
            <a:endParaRPr sz="4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sz="4000">
                <a:latin typeface="Times New Roman" panose="02020603050405020304" charset="0"/>
                <a:cs typeface="Times New Roman" panose="02020603050405020304" charset="0"/>
              </a:rPr>
              <a:t>View Rooms and Beds Status</a:t>
            </a:r>
            <a:endParaRPr lang="en-US" sz="40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5" name="Picture 4" descr="Hospital-Management-Software"/>
          <p:cNvPicPr>
            <a:picLocks noChangeAspect="1"/>
          </p:cNvPicPr>
          <p:nvPr/>
        </p:nvPicPr>
        <p:blipFill>
          <a:blip r:embed="rId1">
            <a:alphaModFix amt="20000"/>
          </a:blip>
          <a:stretch>
            <a:fillRect/>
          </a:stretch>
        </p:blipFill>
        <p:spPr>
          <a:xfrm>
            <a:off x="-2988945" y="0"/>
            <a:ext cx="12132945" cy="685736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8930"/>
            <a:ext cx="8229600" cy="582613"/>
          </a:xfrm>
        </p:spPr>
        <p:txBody>
          <a:bodyPr/>
          <a:lstStyle/>
          <a:p>
            <a:pPr algn="ctr"/>
            <a:r>
              <a:rPr sz="4000" b="1">
                <a:latin typeface="Times New Roman" panose="02020603050405020304" charset="0"/>
                <a:cs typeface="Times New Roman" panose="02020603050405020304" charset="0"/>
              </a:rPr>
              <a:t>Prescription &amp; Medicine Module</a:t>
            </a:r>
            <a:endParaRPr sz="40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3600">
                <a:latin typeface="Times New Roman" panose="02020603050405020304" charset="0"/>
                <a:cs typeface="Times New Roman" panose="02020603050405020304" charset="0"/>
              </a:rPr>
              <a:t>Doctor gives prescription</a:t>
            </a:r>
            <a:endParaRPr sz="36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sz="3600">
                <a:latin typeface="Times New Roman" panose="02020603050405020304" charset="0"/>
                <a:cs typeface="Times New Roman" panose="02020603050405020304" charset="0"/>
              </a:rPr>
              <a:t>Admin manages medicines</a:t>
            </a:r>
            <a:endParaRPr sz="36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sz="3600">
                <a:latin typeface="Times New Roman" panose="02020603050405020304" charset="0"/>
                <a:cs typeface="Times New Roman" panose="02020603050405020304" charset="0"/>
              </a:rPr>
              <a:t>Medicine details List</a:t>
            </a:r>
            <a:endParaRPr lang="en-US" sz="36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sz="3600">
                <a:latin typeface="Times New Roman" panose="02020603050405020304" charset="0"/>
                <a:cs typeface="Times New Roman" panose="02020603050405020304" charset="0"/>
              </a:rPr>
              <a:t>Prescription List and also generate pdf of</a:t>
            </a:r>
            <a:endParaRPr lang="en-US" sz="36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sz="3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  prescription </a:t>
            </a:r>
            <a:endParaRPr lang="en-US" sz="36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5" name="Picture 4" descr="Hospital-Management-Software"/>
          <p:cNvPicPr>
            <a:picLocks noChangeAspect="1"/>
          </p:cNvPicPr>
          <p:nvPr/>
        </p:nvPicPr>
        <p:blipFill>
          <a:blip r:embed="rId1">
            <a:alphaModFix amt="20000"/>
          </a:blip>
          <a:stretch>
            <a:fillRect/>
          </a:stretch>
        </p:blipFill>
        <p:spPr>
          <a:xfrm>
            <a:off x="-2988945" y="0"/>
            <a:ext cx="12132945" cy="685736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0680"/>
            <a:ext cx="8229600" cy="582613"/>
          </a:xfrm>
        </p:spPr>
        <p:txBody>
          <a:bodyPr/>
          <a:lstStyle/>
          <a:p>
            <a:pPr algn="ctr"/>
            <a:r>
              <a:rPr sz="4800" b="1">
                <a:latin typeface="Times New Roman" panose="02020603050405020304" charset="0"/>
                <a:cs typeface="Times New Roman" panose="02020603050405020304" charset="0"/>
              </a:rPr>
              <a:t>Billing Module</a:t>
            </a:r>
            <a:endParaRPr sz="48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4000">
                <a:latin typeface="Times New Roman" panose="02020603050405020304" charset="0"/>
                <a:cs typeface="Times New Roman" panose="02020603050405020304" charset="0"/>
              </a:rPr>
              <a:t>Room charges</a:t>
            </a:r>
            <a:endParaRPr sz="4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sz="4000">
                <a:latin typeface="Times New Roman" panose="02020603050405020304" charset="0"/>
                <a:cs typeface="Times New Roman" panose="02020603050405020304" charset="0"/>
              </a:rPr>
              <a:t>Medicine charges</a:t>
            </a:r>
            <a:endParaRPr sz="4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sz="4000">
                <a:latin typeface="Times New Roman" panose="02020603050405020304" charset="0"/>
                <a:cs typeface="Times New Roman" panose="02020603050405020304" charset="0"/>
              </a:rPr>
              <a:t>Doctor fees</a:t>
            </a:r>
            <a:endParaRPr sz="4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sz="4000">
                <a:latin typeface="Times New Roman" panose="02020603050405020304" charset="0"/>
                <a:cs typeface="Times New Roman" panose="02020603050405020304" charset="0"/>
              </a:rPr>
              <a:t>Generate final bill</a:t>
            </a:r>
            <a:endParaRPr sz="40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5" name="Picture 4" descr="Hospital-Management-Software"/>
          <p:cNvPicPr>
            <a:picLocks noChangeAspect="1"/>
          </p:cNvPicPr>
          <p:nvPr/>
        </p:nvPicPr>
        <p:blipFill>
          <a:blip r:embed="rId1">
            <a:alphaModFix amt="20000"/>
          </a:blip>
          <a:stretch>
            <a:fillRect/>
          </a:stretch>
        </p:blipFill>
        <p:spPr>
          <a:xfrm>
            <a:off x="-2988945" y="0"/>
            <a:ext cx="12132945" cy="685736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8930"/>
            <a:ext cx="8229600" cy="582613"/>
          </a:xfrm>
        </p:spPr>
        <p:txBody>
          <a:bodyPr/>
          <a:lstStyle/>
          <a:p>
            <a:pPr algn="ctr"/>
            <a:r>
              <a:rPr lang="en-US" sz="4400" b="1">
                <a:latin typeface="Times New Roman" panose="02020603050405020304" charset="0"/>
                <a:cs typeface="Times New Roman" panose="02020603050405020304" charset="0"/>
              </a:rPr>
              <a:t>Used </a:t>
            </a:r>
            <a:r>
              <a:rPr sz="4400" b="1">
                <a:latin typeface="Times New Roman" panose="02020603050405020304" charset="0"/>
                <a:cs typeface="Times New Roman" panose="02020603050405020304" charset="0"/>
              </a:rPr>
              <a:t>Technology</a:t>
            </a:r>
            <a:endParaRPr sz="44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600">
                <a:latin typeface="Times New Roman" panose="02020603050405020304" charset="0"/>
                <a:cs typeface="Times New Roman" panose="02020603050405020304" charset="0"/>
              </a:rPr>
              <a:t>For </a:t>
            </a:r>
            <a:r>
              <a:rPr sz="3600">
                <a:latin typeface="Times New Roman" panose="02020603050405020304" charset="0"/>
                <a:cs typeface="Times New Roman" panose="02020603050405020304" charset="0"/>
              </a:rPr>
              <a:t>Frontend: HTML, CSS, JavaScript, React</a:t>
            </a:r>
            <a:endParaRPr sz="3600">
              <a:latin typeface="Times New Roman" panose="02020603050405020304" charset="0"/>
              <a:cs typeface="Times New Roman" panose="02020603050405020304" charset="0"/>
            </a:endParaRPr>
          </a:p>
          <a:p>
            <a:endParaRPr sz="36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sz="3600">
                <a:latin typeface="Times New Roman" panose="02020603050405020304" charset="0"/>
                <a:cs typeface="Times New Roman" panose="02020603050405020304" charset="0"/>
              </a:rPr>
              <a:t>For </a:t>
            </a:r>
            <a:r>
              <a:rPr sz="3600">
                <a:latin typeface="Times New Roman" panose="02020603050405020304" charset="0"/>
                <a:cs typeface="Times New Roman" panose="02020603050405020304" charset="0"/>
              </a:rPr>
              <a:t>Backend: Java / Spring Boot </a:t>
            </a:r>
            <a:r>
              <a:rPr lang="en-US" sz="3600">
                <a:latin typeface="Times New Roman" panose="02020603050405020304" charset="0"/>
                <a:cs typeface="Times New Roman" panose="02020603050405020304" charset="0"/>
              </a:rPr>
              <a:t>and .</a:t>
            </a:r>
            <a:r>
              <a:rPr sz="3600">
                <a:latin typeface="Times New Roman" panose="02020603050405020304" charset="0"/>
                <a:cs typeface="Times New Roman" panose="02020603050405020304" charset="0"/>
              </a:rPr>
              <a:t>NET</a:t>
            </a:r>
            <a:endParaRPr sz="3600">
              <a:latin typeface="Times New Roman" panose="02020603050405020304" charset="0"/>
              <a:cs typeface="Times New Roman" panose="02020603050405020304" charset="0"/>
            </a:endParaRPr>
          </a:p>
          <a:p>
            <a:endParaRPr sz="36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sz="3600">
                <a:latin typeface="Times New Roman" panose="02020603050405020304" charset="0"/>
                <a:cs typeface="Times New Roman" panose="02020603050405020304" charset="0"/>
              </a:rPr>
              <a:t>Database: MySQL</a:t>
            </a:r>
            <a:endParaRPr sz="36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5" name="Picture 4" descr="Hospital-Management-Software"/>
          <p:cNvPicPr>
            <a:picLocks noChangeAspect="1"/>
          </p:cNvPicPr>
          <p:nvPr/>
        </p:nvPicPr>
        <p:blipFill>
          <a:blip r:embed="rId1">
            <a:alphaModFix amt="20000"/>
          </a:blip>
          <a:stretch>
            <a:fillRect/>
          </a:stretch>
        </p:blipFill>
        <p:spPr>
          <a:xfrm>
            <a:off x="-2988945" y="0"/>
            <a:ext cx="12132945" cy="685736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64795"/>
            <a:ext cx="8229600" cy="582613"/>
          </a:xfrm>
        </p:spPr>
        <p:txBody>
          <a:bodyPr/>
          <a:lstStyle/>
          <a:p>
            <a:pPr algn="ctr"/>
            <a:r>
              <a:rPr sz="4800" b="1">
                <a:latin typeface="Times New Roman" panose="02020603050405020304" charset="0"/>
                <a:cs typeface="Times New Roman" panose="02020603050405020304" charset="0"/>
              </a:rPr>
              <a:t>Advantages</a:t>
            </a:r>
            <a:endParaRPr sz="48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3600">
                <a:latin typeface="Times New Roman" panose="02020603050405020304" charset="0"/>
                <a:cs typeface="Times New Roman" panose="02020603050405020304" charset="0"/>
              </a:rPr>
              <a:t>Saves time</a:t>
            </a:r>
            <a:endParaRPr sz="36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sz="3600">
                <a:latin typeface="Times New Roman" panose="02020603050405020304" charset="0"/>
                <a:cs typeface="Times New Roman" panose="02020603050405020304" charset="0"/>
              </a:rPr>
              <a:t>Reduces paperwork</a:t>
            </a:r>
            <a:endParaRPr sz="36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sz="3600">
                <a:latin typeface="Times New Roman" panose="02020603050405020304" charset="0"/>
                <a:cs typeface="Times New Roman" panose="02020603050405020304" charset="0"/>
              </a:rPr>
              <a:t>Secure and Role based</a:t>
            </a:r>
            <a:r>
              <a:rPr sz="3600">
                <a:latin typeface="Times New Roman" panose="02020603050405020304" charset="0"/>
                <a:cs typeface="Times New Roman" panose="02020603050405020304" charset="0"/>
              </a:rPr>
              <a:t> access</a:t>
            </a:r>
            <a:endParaRPr sz="36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sz="3600">
                <a:latin typeface="Times New Roman" panose="02020603050405020304" charset="0"/>
                <a:cs typeface="Times New Roman" panose="02020603050405020304" charset="0"/>
              </a:rPr>
              <a:t>Accurate billing</a:t>
            </a:r>
            <a:endParaRPr sz="36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3600">
                <a:latin typeface="Times New Roman" panose="02020603050405020304" charset="0"/>
                <a:cs typeface="Times New Roman" panose="02020603050405020304" charset="0"/>
              </a:rPr>
              <a:t>Centralized data management</a:t>
            </a:r>
            <a:endParaRPr lang="en-US" altLang="en-US" sz="36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3600">
                <a:latin typeface="Times New Roman" panose="02020603050405020304" charset="0"/>
                <a:cs typeface="Times New Roman" panose="02020603050405020304" charset="0"/>
              </a:rPr>
              <a:t>User Friendly interface</a:t>
            </a:r>
            <a:endParaRPr lang="en-US" altLang="en-US" sz="36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altLang="en-US" sz="36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5" name="Picture 4" descr="Hospital-Management-Software"/>
          <p:cNvPicPr>
            <a:picLocks noChangeAspect="1"/>
          </p:cNvPicPr>
          <p:nvPr/>
        </p:nvPicPr>
        <p:blipFill>
          <a:blip r:embed="rId1">
            <a:alphaModFix amt="20000"/>
          </a:blip>
          <a:stretch>
            <a:fillRect/>
          </a:stretch>
        </p:blipFill>
        <p:spPr>
          <a:xfrm>
            <a:off x="-2988945" y="22225"/>
            <a:ext cx="12132945" cy="685736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635"/>
            <a:ext cx="8229600" cy="582613"/>
          </a:xfrm>
        </p:spPr>
        <p:txBody>
          <a:bodyPr/>
          <a:lstStyle/>
          <a:p>
            <a:pPr algn="ctr"/>
            <a:r>
              <a:rPr sz="4000" b="1">
                <a:latin typeface="Times New Roman" panose="02020603050405020304" charset="0"/>
                <a:cs typeface="Times New Roman" panose="02020603050405020304" charset="0"/>
              </a:rPr>
              <a:t>Future Enhancements</a:t>
            </a:r>
            <a:endParaRPr sz="40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latin typeface="Times New Roman" panose="02020603050405020304" charset="0"/>
                <a:cs typeface="Times New Roman" panose="02020603050405020304" charset="0"/>
              </a:rPr>
              <a:t>Online payment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>
                <a:latin typeface="Times New Roman" panose="02020603050405020304" charset="0"/>
                <a:cs typeface="Times New Roman" panose="02020603050405020304" charset="0"/>
              </a:rPr>
              <a:t>SMS/Email notifications</a:t>
            </a:r>
            <a:r>
              <a:rPr lang="en-US">
                <a:latin typeface="Times New Roman" panose="02020603050405020304" charset="0"/>
                <a:cs typeface="Times New Roman" panose="02020603050405020304" charset="0"/>
              </a:rPr>
              <a:t> of appointment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>
                <a:latin typeface="Times New Roman" panose="02020603050405020304" charset="0"/>
                <a:cs typeface="Times New Roman" panose="02020603050405020304" charset="0"/>
              </a:rPr>
              <a:t>Mobile application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>
                <a:latin typeface="Times New Roman" panose="02020603050405020304" charset="0"/>
                <a:cs typeface="Times New Roman" panose="02020603050405020304" charset="0"/>
              </a:rPr>
              <a:t>Also managements of hospital staff</a:t>
            </a: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5" name="Picture 4" descr="Hospital-Management-Software"/>
          <p:cNvPicPr>
            <a:picLocks noChangeAspect="1"/>
          </p:cNvPicPr>
          <p:nvPr/>
        </p:nvPicPr>
        <p:blipFill>
          <a:blip r:embed="rId1">
            <a:alphaModFix amt="20000"/>
          </a:blip>
          <a:stretch>
            <a:fillRect/>
          </a:stretch>
        </p:blipFill>
        <p:spPr>
          <a:xfrm>
            <a:off x="-2988945" y="0"/>
            <a:ext cx="12132945" cy="685736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7975"/>
            <a:ext cx="8229600" cy="582613"/>
          </a:xfrm>
        </p:spPr>
        <p:txBody>
          <a:bodyPr/>
          <a:lstStyle/>
          <a:p>
            <a:pPr algn="ctr"/>
            <a:r>
              <a:rPr sz="5400" b="1">
                <a:latin typeface="Times New Roman" panose="02020603050405020304" charset="0"/>
                <a:cs typeface="Times New Roman" panose="02020603050405020304" charset="0"/>
              </a:rPr>
              <a:t>Conclusion</a:t>
            </a:r>
            <a:endParaRPr sz="54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5110" y="1047115"/>
            <a:ext cx="8441055" cy="4953000"/>
          </a:xfrm>
        </p:spPr>
        <p:txBody>
          <a:bodyPr/>
          <a:lstStyle/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The Hospital Management System successfully automates and simplifies hospital operations such as patient management, appointment scheduling, bed allocation, and billing.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By providing a centralized and secure platform, the system reduces manual work, minimizes errors, and improves operational efficiency.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This project demonstrates the effective use of modern web technologies to enhance hospital administration and improve patient care.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5" name="Picture 4" descr="Hospital-Management-Software"/>
          <p:cNvPicPr>
            <a:picLocks noChangeAspect="1"/>
          </p:cNvPicPr>
          <p:nvPr/>
        </p:nvPicPr>
        <p:blipFill>
          <a:blip r:embed="rId1">
            <a:alphaModFix amt="20000"/>
          </a:blip>
          <a:stretch>
            <a:fillRect/>
          </a:stretch>
        </p:blipFill>
        <p:spPr>
          <a:xfrm>
            <a:off x="-2988945" y="0"/>
            <a:ext cx="12132945" cy="685736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lue Waves">
  <a:themeElements>
    <a:clrScheme name="Blue Wav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66CC"/>
      </a:accent1>
      <a:accent2>
        <a:srgbClr val="3399FF"/>
      </a:accent2>
      <a:accent3>
        <a:srgbClr val="FFFFFF"/>
      </a:accent3>
      <a:accent4>
        <a:srgbClr val="000000"/>
      </a:accent4>
      <a:accent5>
        <a:srgbClr val="AAB8E2"/>
      </a:accent5>
      <a:accent6>
        <a:srgbClr val="2D8AE7"/>
      </a:accent6>
      <a:hlink>
        <a:srgbClr val="CC3300"/>
      </a:hlink>
      <a:folHlink>
        <a:srgbClr val="996600"/>
      </a:folHlink>
    </a:clrScheme>
    <a:fontScheme name="Blue Wave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Blue Wav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66CC"/>
        </a:accent1>
        <a:accent2>
          <a:srgbClr val="3399FF"/>
        </a:accent2>
        <a:accent3>
          <a:srgbClr val="FFFFFF"/>
        </a:accent3>
        <a:accent4>
          <a:srgbClr val="000000"/>
        </a:accent4>
        <a:accent5>
          <a:srgbClr val="AAB8E2"/>
        </a:accent5>
        <a:accent6>
          <a:srgbClr val="2D8AE7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2392</Words>
  <Application>WPS Presentation</Application>
  <PresentationFormat>On-screen Show (4:3)</PresentationFormat>
  <Paragraphs>121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33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Algerian</vt:lpstr>
      <vt:lpstr>Times New Roman</vt:lpstr>
      <vt:lpstr>Magneto</vt:lpstr>
      <vt:lpstr>Microsoft New Tai Lue</vt:lpstr>
      <vt:lpstr>Lucida Sans</vt:lpstr>
      <vt:lpstr>Arial Narrow</vt:lpstr>
      <vt:lpstr>Arial Rounded MT Bold</vt:lpstr>
      <vt:lpstr>Bahnschrift</vt:lpstr>
      <vt:lpstr>Bahnschrift Condensed</vt:lpstr>
      <vt:lpstr>Arial Black</vt:lpstr>
      <vt:lpstr>Blue Waves</vt:lpstr>
      <vt:lpstr>Hospital Management System</vt:lpstr>
      <vt:lpstr>Introduction</vt:lpstr>
      <vt:lpstr>PowerPoint 演示文稿</vt:lpstr>
      <vt:lpstr>Objectives</vt:lpstr>
      <vt:lpstr>Modules</vt:lpstr>
      <vt:lpstr>Admin Module</vt:lpstr>
      <vt:lpstr>Doctor Module</vt:lpstr>
      <vt:lpstr>Patient Module</vt:lpstr>
      <vt:lpstr>Room &amp; Bed Module</vt:lpstr>
      <vt:lpstr>Prescription &amp; Medicine Module</vt:lpstr>
      <vt:lpstr>Billing Module</vt:lpstr>
      <vt:lpstr>Technology Stack</vt:lpstr>
      <vt:lpstr>Advantages</vt:lpstr>
      <vt:lpstr>Future Enhancements</vt:lpstr>
      <vt:lpstr>Conclusion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Deepak Pawar</cp:lastModifiedBy>
  <cp:revision>46</cp:revision>
  <dcterms:created xsi:type="dcterms:W3CDTF">2013-01-27T09:14:00Z</dcterms:created>
  <dcterms:modified xsi:type="dcterms:W3CDTF">2026-02-02T07:47:17Z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3DA418D2BD5E4489A1C26C0486FF60A8_13</vt:lpwstr>
  </property>
  <property fmtid="{D5CDD505-2E9C-101B-9397-08002B2CF9AE}" pid="3" name="KSOProductBuildVer">
    <vt:lpwstr>1033-12.2.0.23196</vt:lpwstr>
  </property>
</Properties>
</file>